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15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377440"/>
            <a:ext cx="2743200" cy="508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Small Sample Learning for</a:t>
            </a:r>
            <a:br/>
            <a:r>
              <a:t>Defect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B81C"/>
                </a:solidFill>
                <a:latin typeface="Calibri"/>
              </a:defRPr>
            </a:pPr>
            <a:r>
              <a:t>Problem A  |  Semiconductor Solutions Challenge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566"/>
                </a:solidFill>
                <a:latin typeface="Calibri"/>
              </a:defRPr>
            </a:pPr>
            <a:r>
              <a:t>Multi-Task ResNet50 with Edge-Enhanced Preprocessing</a:t>
            </a:r>
            <a:br/>
            <a:r>
              <a:t>&amp; Targeted Rare-Class Augmentation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88899"/>
                </a:solidFill>
                <a:latin typeface="Calibri"/>
              </a:defRPr>
            </a:pPr>
            <a:r>
              <a:t>ASU Southwest Advanced Prototyping Hub  x  Intel Corporation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080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Calibri"/>
              </a:defRPr>
            </a:pPr>
            <a:r>
              <a:t>March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371600"/>
            <a:ext cx="3474720" cy="384048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371600"/>
            <a:ext cx="3474720" cy="50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CC71"/>
                </a:solidFill>
                <a:latin typeface="Calibri"/>
              </a:defRPr>
            </a:pPr>
            <a:r>
              <a:t>END-TO-END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874519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~85%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606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B81C"/>
                </a:solidFill>
                <a:latin typeface="Calibri"/>
              </a:defRPr>
            </a:pPr>
            <a:r>
              <a:t>9-Class Accuracy (random sample)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3108960"/>
            <a:ext cx="3108960" cy="12700"/>
          </a:xfrm>
          <a:prstGeom prst="rect">
            <a:avLst/>
          </a:prstGeom>
          <a:solidFill>
            <a:srgbClr val="333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3246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66"/>
                </a:solidFill>
                <a:latin typeface="Calibri"/>
              </a:defRPr>
            </a:pPr>
            <a:r>
              <a:t>Stage 1 (Binary):  86.9%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566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66"/>
                </a:solidFill>
                <a:latin typeface="Calibri"/>
              </a:defRPr>
            </a:pPr>
            <a:r>
              <a:t>Stage 2 (Subtype):  92.7%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97763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Exceeds Intel's 85% target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38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Statement &amp; Challenge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868680"/>
            <a:ext cx="2286000" cy="381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66"/>
                </a:solidFill>
                <a:latin typeface="Calibri"/>
              </a:defRPr>
            </a:pPr>
            <a:r>
              <a:t>Semiconductor Solutions Challenge 2026  |  Problem A: Small Sample Defect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66"/>
                </a:solidFill>
                <a:latin typeface="Calibri"/>
              </a:defRPr>
            </a:pPr>
            <a:r>
              <a:t>2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1C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B81C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Defect classification is critical in semiconductor manufacturing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B81C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Directly impacts yield, product quality, and time-to-market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B81C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Labeled defect data is scarce in real production environments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B81C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Traditional ML needs large datasets — not feasible in fabs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B81C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Must learn from very few examples (some classes have &lt;15 samples)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03520" cy="274320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1C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74519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B81C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Detect defects (binary: good vs defect) with high accuracy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B81C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Classify into 8 specific defect subtypes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B81C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Handle extreme class imbalance (793:1 ratio)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B81C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Process images in ~1 second, up to 1500x2500 pixels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389120"/>
            <a:ext cx="10789920" cy="201168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1C"/>
                </a:solidFill>
                <a:latin typeface="Calibri"/>
              </a:defRPr>
            </a:pPr>
            <a:r>
              <a:t>DELIVERABLES (from Intel Problem Brief)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8920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Application for detecting &amp; classifying defects from grayscale images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Evaluation plots: detection &amp; classification accuracy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Target: ~85% overall classification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8920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Demonstrate rapid learning from limited data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Documentation: model approach, assumptions, class imbalance handling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38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Dataset Overview &amp; Class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868680"/>
            <a:ext cx="2286000" cy="381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66"/>
                </a:solidFill>
                <a:latin typeface="Calibri"/>
              </a:defRPr>
            </a:pPr>
            <a:r>
              <a:t>Semiconductor Solutions Challenge 2026  |  Problem A: Small Sample Defect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66"/>
                </a:solidFill>
                <a:latin typeface="Calibri"/>
              </a:defRPr>
            </a:pPr>
            <a:r>
              <a:t>3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2286000" cy="118872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228600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B4D8"/>
                </a:solidFill>
                <a:latin typeface="Calibri"/>
              </a:defRPr>
            </a:pPr>
            <a:r>
              <a:t>9,796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488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66"/>
                </a:solidFill>
                <a:latin typeface="Calibri"/>
              </a:defRPr>
            </a:pPr>
            <a:r>
              <a:t>Total Images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371600"/>
            <a:ext cx="2286000" cy="118872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371600"/>
            <a:ext cx="228600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5544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B4D8"/>
                </a:solidFill>
                <a:latin typeface="Calibri"/>
              </a:defRPr>
            </a:pPr>
            <a:r>
              <a:t>9 (1 good + 8 defect)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1488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66"/>
                </a:solidFill>
                <a:latin typeface="Calibri"/>
              </a:defRPr>
            </a:pPr>
            <a:r>
              <a:t>Classes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1371600"/>
            <a:ext cx="2286000" cy="118872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2160" y="1371600"/>
            <a:ext cx="228600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15544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B4D8"/>
                </a:solidFill>
                <a:latin typeface="Calibri"/>
              </a:defRPr>
            </a:pPr>
            <a:r>
              <a:t>7,135 : 2,661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1488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66"/>
                </a:solidFill>
                <a:latin typeface="Calibri"/>
              </a:defRPr>
            </a:pPr>
            <a:r>
              <a:t>Good : Defect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1371600"/>
            <a:ext cx="3017520" cy="118872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0" y="1371600"/>
            <a:ext cx="301752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15544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74C3C"/>
                </a:solidFill>
                <a:latin typeface="Calibri"/>
              </a:defRPr>
            </a:pPr>
            <a:r>
              <a:t>793:1 (good vs defect3)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148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66"/>
                </a:solidFill>
                <a:latin typeface="Calibri"/>
              </a:defRPr>
            </a:pPr>
            <a:r>
              <a:t>Max Imbalance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1C"/>
                </a:solidFill>
                <a:latin typeface="Calibri"/>
              </a:defRPr>
            </a:pPr>
            <a:r>
              <a:t>CLASS DISTRIBUTION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246120"/>
            <a:ext cx="5486400" cy="355600"/>
          </a:xfrm>
          <a:prstGeom prst="rect">
            <a:avLst/>
          </a:prstGeom>
          <a:solidFill>
            <a:srgbClr val="30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246120"/>
            <a:ext cx="13716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B81C"/>
                </a:solidFill>
                <a:latin typeface="Calibri"/>
              </a:defRPr>
            </a:pPr>
            <a:r>
              <a:t>Class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3246120"/>
            <a:ext cx="9144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B81C"/>
                </a:solidFill>
                <a:latin typeface="Calibri"/>
              </a:defRPr>
            </a:pPr>
            <a:r>
              <a:t>Count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3246120"/>
            <a:ext cx="9144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B81C"/>
                </a:solidFill>
                <a:latin typeface="Calibri"/>
              </a:defRPr>
            </a:pPr>
            <a:r>
              <a:t>Share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3246120"/>
            <a:ext cx="16459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B81C"/>
                </a:solidFill>
                <a:latin typeface="Calibri"/>
              </a:defRPr>
            </a:pPr>
            <a:r>
              <a:t>Note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601720"/>
            <a:ext cx="5486400" cy="317500"/>
          </a:xfrm>
          <a:prstGeom prst="rect">
            <a:avLst/>
          </a:prstGeom>
          <a:solidFill>
            <a:srgbClr val="28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601720"/>
            <a:ext cx="13716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good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3601720"/>
            <a:ext cx="9144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7,135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3601720"/>
            <a:ext cx="9144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72.8%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3601720"/>
            <a:ext cx="164592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t>---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957320"/>
            <a:ext cx="5486400" cy="31750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3957320"/>
            <a:ext cx="13716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defect8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3957320"/>
            <a:ext cx="9144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803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3957320"/>
            <a:ext cx="9144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8.2%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3957320"/>
            <a:ext cx="164592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t>Most common defect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4312920"/>
            <a:ext cx="5486400" cy="317500"/>
          </a:xfrm>
          <a:prstGeom prst="rect">
            <a:avLst/>
          </a:prstGeom>
          <a:solidFill>
            <a:srgbClr val="28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4312920"/>
            <a:ext cx="13716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defect10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86000" y="4312920"/>
            <a:ext cx="9144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674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4312920"/>
            <a:ext cx="9144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6.9%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4312920"/>
            <a:ext cx="164592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66"/>
                </a:solidFill>
                <a:latin typeface="Calibri"/>
              </a:defRPr>
            </a:pPr>
          </a:p>
        </p:txBody>
      </p:sp>
      <p:sp>
        <p:nvSpPr>
          <p:cNvPr id="46" name="Rectangle 45"/>
          <p:cNvSpPr/>
          <p:nvPr/>
        </p:nvSpPr>
        <p:spPr>
          <a:xfrm>
            <a:off x="731520" y="4668520"/>
            <a:ext cx="5486400" cy="31750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4668520"/>
            <a:ext cx="13716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defect5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4668520"/>
            <a:ext cx="9144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411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83280" y="4668520"/>
            <a:ext cx="9144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4.2%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0560" y="4668520"/>
            <a:ext cx="164592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66"/>
                </a:solidFill>
                <a:latin typeface="Calibri"/>
              </a:defRPr>
            </a:pPr>
          </a:p>
        </p:txBody>
      </p:sp>
      <p:sp>
        <p:nvSpPr>
          <p:cNvPr id="51" name="Rectangle 50"/>
          <p:cNvSpPr/>
          <p:nvPr/>
        </p:nvSpPr>
        <p:spPr>
          <a:xfrm>
            <a:off x="731520" y="5024120"/>
            <a:ext cx="5486400" cy="317500"/>
          </a:xfrm>
          <a:prstGeom prst="rect">
            <a:avLst/>
          </a:prstGeom>
          <a:solidFill>
            <a:srgbClr val="28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5024120"/>
            <a:ext cx="13716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defect9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86000" y="5024120"/>
            <a:ext cx="9144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319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83280" y="5024120"/>
            <a:ext cx="9144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3.3%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80560" y="5024120"/>
            <a:ext cx="164592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66"/>
                </a:solidFill>
                <a:latin typeface="Calibri"/>
              </a:defRPr>
            </a:pPr>
          </a:p>
        </p:txBody>
      </p:sp>
      <p:sp>
        <p:nvSpPr>
          <p:cNvPr id="56" name="Rectangle 55"/>
          <p:cNvSpPr/>
          <p:nvPr/>
        </p:nvSpPr>
        <p:spPr>
          <a:xfrm>
            <a:off x="731520" y="5379720"/>
            <a:ext cx="5486400" cy="31750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" y="5379720"/>
            <a:ext cx="13716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defect1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86000" y="5379720"/>
            <a:ext cx="9144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253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83280" y="5379720"/>
            <a:ext cx="9144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2.6%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80560" y="5379720"/>
            <a:ext cx="164592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66"/>
                </a:solidFill>
                <a:latin typeface="Calibri"/>
              </a:defRPr>
            </a:pPr>
          </a:p>
        </p:txBody>
      </p:sp>
      <p:sp>
        <p:nvSpPr>
          <p:cNvPr id="61" name="Rectangle 60"/>
          <p:cNvSpPr/>
          <p:nvPr/>
        </p:nvSpPr>
        <p:spPr>
          <a:xfrm>
            <a:off x="731520" y="5735320"/>
            <a:ext cx="5486400" cy="317500"/>
          </a:xfrm>
          <a:prstGeom prst="rect">
            <a:avLst/>
          </a:prstGeom>
          <a:solidFill>
            <a:srgbClr val="28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2960" y="5735320"/>
            <a:ext cx="13716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defect2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286000" y="5735320"/>
            <a:ext cx="9144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178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83280" y="5735320"/>
            <a:ext cx="9144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1.8%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80560" y="5735320"/>
            <a:ext cx="164592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66"/>
                </a:solidFill>
                <a:latin typeface="Calibri"/>
              </a:defRPr>
            </a:pPr>
          </a:p>
        </p:txBody>
      </p:sp>
      <p:sp>
        <p:nvSpPr>
          <p:cNvPr id="66" name="Rectangle 65"/>
          <p:cNvSpPr/>
          <p:nvPr/>
        </p:nvSpPr>
        <p:spPr>
          <a:xfrm>
            <a:off x="731520" y="6090920"/>
            <a:ext cx="5486400" cy="31750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2960" y="6090920"/>
            <a:ext cx="13716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74C3C"/>
                </a:solidFill>
                <a:latin typeface="Calibri"/>
              </a:defRPr>
            </a:pPr>
            <a:r>
              <a:t>⚠ defect4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286000" y="6090920"/>
            <a:ext cx="9144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E74C3C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83280" y="6090920"/>
            <a:ext cx="9144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E74C3C"/>
                </a:solidFill>
                <a:latin typeface="Calibri"/>
              </a:defRPr>
            </a:pPr>
            <a:r>
              <a:t>0.1%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80560" y="6090920"/>
            <a:ext cx="164592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t>CRITICALLY RARE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6446520"/>
            <a:ext cx="5486400" cy="317500"/>
          </a:xfrm>
          <a:prstGeom prst="rect">
            <a:avLst/>
          </a:prstGeom>
          <a:solidFill>
            <a:srgbClr val="28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2960" y="6446520"/>
            <a:ext cx="13716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74C3C"/>
                </a:solidFill>
                <a:latin typeface="Calibri"/>
              </a:defRPr>
            </a:pPr>
            <a:r>
              <a:t>⚠ defect3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6446520"/>
            <a:ext cx="9144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E74C3C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83280" y="6446520"/>
            <a:ext cx="9144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E74C3C"/>
                </a:solidFill>
                <a:latin typeface="Calibri"/>
              </a:defRPr>
            </a:pPr>
            <a:r>
              <a:t>0.1%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480560" y="6446520"/>
            <a:ext cx="164592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t>CRITICALLY RARE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583680" y="2834640"/>
            <a:ext cx="4846320" cy="338328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858000" y="29260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1C"/>
                </a:solidFill>
                <a:latin typeface="Calibri"/>
              </a:defRPr>
            </a:pPr>
            <a:r>
              <a:t>KEY EDA INSIGHTS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58000" y="333756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Grayscale images, variable sizes (612–5238 px)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Majority class (good) = 72.8% of all data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defect3 has only 9 samples, defect4 has 14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Image dimensions vary significantly across classes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Mean pixel intensity varies by defect type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Binary baseline (majority vote) = 69.1%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38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Challenges Identified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868680"/>
            <a:ext cx="2286000" cy="381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66"/>
                </a:solidFill>
                <a:latin typeface="Calibri"/>
              </a:defRPr>
            </a:pPr>
            <a:r>
              <a:t>Semiconductor Solutions Challenge 2026  |  Problem A: Small Sample Defect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66"/>
                </a:solidFill>
                <a:latin typeface="Calibri"/>
              </a:defRPr>
            </a:pPr>
            <a:r>
              <a:t>4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2606040" cy="484632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260604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B81C"/>
                </a:solidFill>
                <a:latin typeface="Calibri"/>
              </a:defRPr>
            </a:pPr>
            <a:r>
              <a:t>793:1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01168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Extreme Class Imbalance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060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66"/>
                </a:solidFill>
                <a:latin typeface="Calibri"/>
              </a:defRPr>
            </a:pPr>
            <a:r>
              <a:t>defect3 (9) &amp; defect4 (14) vs good (7135).</a:t>
            </a:r>
            <a:br/>
            <a:r>
              <a:t>Standard training collapses to majority class.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023360"/>
            <a:ext cx="2331720" cy="12700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16052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CC71"/>
                </a:solidFill>
                <a:latin typeface="Calibri"/>
              </a:defRPr>
            </a:pPr>
            <a:r>
              <a:t>OUR 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348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ECC71"/>
                </a:solidFill>
                <a:latin typeface="Calibri"/>
              </a:defRPr>
            </a:pPr>
            <a:r>
              <a:t>Targeted augmentation + weighted sampling + weighted losses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40" y="1371600"/>
            <a:ext cx="2606040" cy="484632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71600"/>
            <a:ext cx="260604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15544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B81C"/>
                </a:solidFill>
                <a:latin typeface="Calibri"/>
              </a:defRPr>
            </a:pPr>
            <a:r>
              <a:t>23 total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01168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Small Sample Regime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6060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66"/>
                </a:solidFill>
                <a:latin typeface="Calibri"/>
              </a:defRPr>
            </a:pPr>
            <a:r>
              <a:t>Two classes have fewer samples than model parameters in a single linear layer.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4023360"/>
            <a:ext cx="2331720" cy="12700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416052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CC71"/>
                </a:solidFill>
                <a:latin typeface="Calibri"/>
              </a:defRPr>
            </a:pPr>
            <a:r>
              <a:t>OUR APPROACH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4348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ECC71"/>
                </a:solidFill>
                <a:latin typeface="Calibri"/>
              </a:defRPr>
            </a:pPr>
            <a:r>
              <a:t>Transfer learning from ImageNet + data augmentation pipeline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371600"/>
            <a:ext cx="2606040" cy="484632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1371600"/>
            <a:ext cx="260604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15544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B81C"/>
                </a:solidFill>
                <a:latin typeface="Calibri"/>
              </a:defRPr>
            </a:pPr>
            <a:r>
              <a:t>Grayscale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01168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Subtle Defect Patterns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6060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66"/>
                </a:solidFill>
                <a:latin typeface="Calibri"/>
              </a:defRPr>
            </a:pPr>
            <a:r>
              <a:t>Defects appear as faint texture/edge changes on semiconductor wafers.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4023360"/>
            <a:ext cx="2331720" cy="12700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16052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CC71"/>
                </a:solidFill>
                <a:latin typeface="Calibri"/>
              </a:defRPr>
            </a:pPr>
            <a:r>
              <a:t>OUR APPROACH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4348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ECC71"/>
                </a:solidFill>
                <a:latin typeface="Calibri"/>
              </a:defRPr>
            </a:pPr>
            <a:r>
              <a:t>Sobel edge channels to amplify directional gradients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98280" y="1371600"/>
            <a:ext cx="2606040" cy="484632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98280" y="1371600"/>
            <a:ext cx="260604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15544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B81C"/>
                </a:solidFill>
                <a:latin typeface="Calibri"/>
              </a:defRPr>
            </a:pPr>
            <a:r>
              <a:t>Binary + 8-class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201168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Dual-Task Requirement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26060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66"/>
                </a:solidFill>
                <a:latin typeface="Calibri"/>
              </a:defRPr>
            </a:pPr>
            <a:r>
              <a:t>Must both detect presence of defect AND classify specific subtype.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35440" y="4023360"/>
            <a:ext cx="2331720" cy="12700"/>
          </a:xfrm>
          <a:prstGeom prst="rect">
            <a:avLst/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0" y="416052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CC71"/>
                </a:solidFill>
                <a:latin typeface="Calibri"/>
              </a:defRPr>
            </a:pPr>
            <a:r>
              <a:t>OUR APPROACH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44348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ECC71"/>
                </a:solidFill>
                <a:latin typeface="Calibri"/>
              </a:defRPr>
            </a:pPr>
            <a:r>
              <a:t>Multi-task architecture with shared backbone, two heads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38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Solution Architecture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868680"/>
            <a:ext cx="2286000" cy="381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66"/>
                </a:solidFill>
                <a:latin typeface="Calibri"/>
              </a:defRPr>
            </a:pPr>
            <a:r>
              <a:t>Semiconductor Solutions Challenge 2026  |  Problem A: Small Sample Defect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66"/>
                </a:solidFill>
                <a:latin typeface="Calibri"/>
              </a:defRPr>
            </a:pPr>
            <a:r>
              <a:t>5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1737360" cy="146304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1.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Grayscale</a:t>
            </a:r>
            <a:br/>
            <a:r>
              <a:t>Wafer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0116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B81C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1645920"/>
            <a:ext cx="1737360" cy="1463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16916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2. PREPROCESS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01168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Sobel Edge</a:t>
            </a:r>
            <a:br/>
            <a:r>
              <a:t>Channels (3-ch)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0116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B81C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645920"/>
            <a:ext cx="1737360" cy="1463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6916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3. AUGMENT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01168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Rare Class</a:t>
            </a:r>
            <a:br/>
            <a:r>
              <a:t>Amplification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0116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B81C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645920"/>
            <a:ext cx="1737360" cy="146304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916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4. BACKBONE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01168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ResNet50</a:t>
            </a:r>
            <a:br/>
            <a:r>
              <a:t>(ImageNet V2)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0" y="20116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B81C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645920"/>
            <a:ext cx="1737360" cy="1463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6916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5. HEADS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01168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Binary + Subtype</a:t>
            </a:r>
            <a:br/>
            <a:r>
              <a:t>Dual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0116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B81C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0" y="1645920"/>
            <a:ext cx="1737360" cy="14630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0" y="16916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6. POST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201168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TTA + Threshold</a:t>
            </a:r>
            <a:br/>
            <a:r>
              <a:t>Tuning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1C"/>
                </a:solidFill>
                <a:latin typeface="Calibri"/>
              </a:defRPr>
            </a:pPr>
            <a:r>
              <a:t>KEY DESIGN DECISIONS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88620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ResNet50 backbone: strong feature extraction, proven on ImageNet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Edge channels (Sobel X/Y): amplify defect texture signals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256x256 resolution: balance between detail &amp; compute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Multi-task joint training: shared representations benefit both tasks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88620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2-phase training: frozen head warmup, then full fine-tuning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Hard negative mining: 5 extra epochs on difficult samples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Test-Time Augmentation: flip averaging reduces variance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Threshold sweep: optimize binary decision boundary on val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38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Decision: Edge-Enhanced Preprocessing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868680"/>
            <a:ext cx="2286000" cy="381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66"/>
                </a:solidFill>
                <a:latin typeface="Calibri"/>
              </a:defRPr>
            </a:pPr>
            <a:r>
              <a:t>Sobel gradient channels replace naive grayscale-to-RGB duplication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66"/>
                </a:solidFill>
                <a:latin typeface="Calibri"/>
              </a:defRPr>
            </a:pPr>
            <a:r>
              <a:t>Semiconductor Solutions Challenge 2026  |  Problem A: Small Sample Defect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66"/>
                </a:solidFill>
                <a:latin typeface="Calibri"/>
              </a:defRPr>
            </a:pPr>
            <a:r>
              <a:t>6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5303520" cy="457200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1C"/>
                </a:solidFill>
                <a:latin typeface="Calibri"/>
              </a:defRPr>
            </a:pPr>
            <a:r>
              <a:t>3-CHANNEL CONSTRUCTION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116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Calibri"/>
              </a:defRPr>
            </a:pPr>
            <a:r>
              <a:t>Channel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860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Original grayscale intensity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514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66"/>
                </a:solidFill>
                <a:latin typeface="Calibri"/>
              </a:defRPr>
            </a:pPr>
            <a:r>
              <a:t>Preserves raw pixel information from the wafer scan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718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Calibri"/>
              </a:defRPr>
            </a:pPr>
            <a:r>
              <a:t>Channel 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2461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Sobel X (horizontal gradient)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474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66"/>
                </a:solidFill>
                <a:latin typeface="Calibri"/>
              </a:defRPr>
            </a:pPr>
            <a:r>
              <a:t>Detects vertical edges — scratches, vertical defect 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31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Calibri"/>
              </a:defRPr>
            </a:pPr>
            <a:r>
              <a:t>Channel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062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Sobel Y (vertical gradient)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34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66"/>
                </a:solidFill>
                <a:latin typeface="Calibri"/>
              </a:defRPr>
            </a:pPr>
            <a:r>
              <a:t>Detects horizontal edges — lateral defect 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0292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66"/>
                </a:solidFill>
                <a:latin typeface="Calibri"/>
              </a:defRPr>
            </a:pPr>
            <a:r>
              <a:t>Sobel kernels with offset=128 (centered in uint8 range)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463040"/>
            <a:ext cx="5029200" cy="457200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5544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WHY NOT JUST DUPLICATE GRAYSCALE TO 3 CHANNELS?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01168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Duplicating grayscale wastes 2/3 of input capacity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Defects manifest as texture/edge changes, not color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Sobel gradients are the exact signal we need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ResNet50 expects 3-channel input — we give it 3 useful channels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8404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BENEFIT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251960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2ECC71"/>
                </a:solidFill>
                <a:latin typeface="Calibri"/>
              </a:rPr>
              <a:t>Principled feature engineering baked into input layer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2ECC71"/>
                </a:solidFill>
                <a:latin typeface="Calibri"/>
              </a:rPr>
              <a:t>No extra compute cost — same 3-channel tensor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2ECC71"/>
                </a:solidFill>
                <a:latin typeface="Calibri"/>
              </a:rPr>
              <a:t>Exploits ImageNet pretrained conv1 filters effectively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2ECC71"/>
                </a:solidFill>
                <a:latin typeface="Calibri"/>
              </a:rPr>
              <a:t>Makes subtle defect edges visible to early network layers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38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Decision: Rare-Class Data Augmentation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868680"/>
            <a:ext cx="2286000" cy="381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66"/>
                </a:solidFill>
                <a:latin typeface="Calibri"/>
              </a:defRPr>
            </a:pPr>
            <a:r>
              <a:t>Two-pronged strategy to address critically low sample counts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66"/>
                </a:solidFill>
                <a:latin typeface="Calibri"/>
              </a:defRPr>
            </a:pPr>
            <a:r>
              <a:t>Semiconductor Solutions Challenge 2026  |  Problem A: Small Sample Defect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66"/>
                </a:solidFill>
                <a:latin typeface="Calibri"/>
              </a:defRPr>
            </a:pPr>
            <a:r>
              <a:t>7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5303520" cy="457200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463040"/>
            <a:ext cx="530352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STRATEGY A: Patch Amplification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965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1C"/>
                </a:solidFill>
                <a:latin typeface="Calibri"/>
              </a:defRPr>
            </a:pPr>
            <a:r>
              <a:t>Applied to: defect3 (9 → 250) &amp; defect4 (14 → 250)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3774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Augmentation pipeline (stochastic per-image):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69748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CCCCDD"/>
                </a:solidFill>
                <a:latin typeface="Calibri"/>
              </a:rPr>
              <a:t>Random flip (H/V) — always applied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CCCCDD"/>
                </a:solidFill>
                <a:latin typeface="Calibri"/>
              </a:rPr>
              <a:t>Random rotation ±10° (80% prob)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CCCCDD"/>
                </a:solidFill>
                <a:latin typeface="Calibri"/>
              </a:rPr>
              <a:t>Random scale 0.9–1.1x (50% prob)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CCCCDD"/>
                </a:solidFill>
                <a:latin typeface="Calibri"/>
              </a:rPr>
              <a:t>Brightness shift 0.85–1.15 (70% prob)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CCCCDD"/>
                </a:solidFill>
                <a:latin typeface="Calibri"/>
              </a:rPr>
              <a:t>Contrast shift 0.9–1.1 (50% prob)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CCCCDD"/>
                </a:solidFill>
                <a:latin typeface="Calibri"/>
              </a:rPr>
              <a:t>Elastic distortion α=12, σ=3 (40% prob)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CCCCDD"/>
                </a:solidFill>
                <a:latin typeface="Calibri"/>
              </a:rPr>
              <a:t>Gaussian blur r=0.3–0.8 (40% prob)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CCCCDD"/>
                </a:solidFill>
                <a:latin typeface="Calibri"/>
              </a:rPr>
              <a:t>Gaussian noise / salt-pepper (30%/15% prob)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463040"/>
            <a:ext cx="5029200" cy="457200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463040"/>
            <a:ext cx="5029200" cy="508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16002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FCE"/>
                </a:solidFill>
                <a:latin typeface="Calibri"/>
              </a:defRPr>
            </a:pPr>
            <a:r>
              <a:t>STRATEGY B: Procedural Speckle 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96596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1C"/>
                </a:solidFill>
                <a:latin typeface="Calibri"/>
              </a:defRPr>
            </a:pPr>
            <a:r>
              <a:t>Applied to: defect4 only (+50 synthetic images)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37744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Load clean "good" wafer images as base templates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Inject 15–50 synthetic Gaussian blob particles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Vary radius (2–6px), intensity (bright/dark spots)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Add occasional light streak artifacts (15% prob)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Post-process: light blur + brightness jitter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4389120"/>
            <a:ext cx="4480560" cy="146304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4480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B81C"/>
                </a:solidFill>
                <a:latin typeface="Calibri"/>
              </a:defRPr>
            </a:pPr>
            <a:r>
              <a:t>WHY TWO STRATEGIES?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75488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66"/>
                </a:solidFill>
                <a:latin typeface="Calibri"/>
              </a:defRPr>
            </a:pPr>
            <a:r>
              <a:t>Patch amplification preserves real defect morphology but has limited diversity from few originals. Procedural speckle generation creates fully novel samples with realistic defect4 patterns, increasing distribution coverage.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38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Decision: Multi-Task Learning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868680"/>
            <a:ext cx="2286000" cy="381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66"/>
                </a:solidFill>
                <a:latin typeface="Calibri"/>
              </a:defRPr>
            </a:pPr>
            <a:r>
              <a:t>Shared backbone with dual classification heads for joint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66"/>
                </a:solidFill>
                <a:latin typeface="Calibri"/>
              </a:defRPr>
            </a:pPr>
            <a:r>
              <a:t>Semiconductor Solutions Challenge 2026  |  Problem A: Small Sample Defect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66"/>
                </a:solidFill>
                <a:latin typeface="Calibri"/>
              </a:defRPr>
            </a:pPr>
            <a:r>
              <a:t>8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3657600" cy="182880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B81C"/>
                </a:solidFill>
                <a:latin typeface="Calibri"/>
              </a:defRPr>
            </a:pPr>
            <a:r>
              <a:t>SHARED BACKBONE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ResNet50 (ImageNet1K_V2)</a:t>
            </a:r>
            <a:br/>
            <a:br/>
            <a:r>
              <a:t>All conv layers + pooling</a:t>
            </a:r>
            <a:br/>
            <a:r>
              <a:t>25.5M parameters</a:t>
            </a:r>
            <a:br/>
            <a:r>
              <a:t>Output: 2048-dim feature vector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B81C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B81C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1645920"/>
            <a:ext cx="3200400" cy="109728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1691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B81C"/>
                </a:solidFill>
                <a:latin typeface="Calibri"/>
              </a:defRPr>
            </a:pPr>
            <a:r>
              <a:t>BINARY 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19659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Linear(2048, 1)</a:t>
            </a:r>
            <a:br/>
            <a:r>
              <a:t>BCEWithLogitsLoss</a:t>
            </a:r>
            <a:br/>
            <a:r>
              <a:t>pos_weight = 1.8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2926080"/>
            <a:ext cx="3200400" cy="10972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2971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B81C"/>
                </a:solidFill>
                <a:latin typeface="Calibri"/>
              </a:defRPr>
            </a:pPr>
            <a:r>
              <a:t>SUBTYPE 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246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Linear(2048, 8)</a:t>
            </a:r>
            <a:br/>
            <a:r>
              <a:t>CrossEntropyLoss (weighted)</a:t>
            </a:r>
            <a:br/>
            <a:r>
              <a:t>Trained on defect samples only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1645920"/>
            <a:ext cx="1828800" cy="109728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7373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  <a:latin typeface="Calibri"/>
              </a:defRPr>
            </a:pPr>
            <a:r>
              <a:t>Good</a:t>
            </a:r>
            <a:br/>
            <a:r>
              <a:t>or</a:t>
            </a:r>
            <a:br/>
            <a:r>
              <a:t>Defect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2926080"/>
            <a:ext cx="1828800" cy="1097280"/>
          </a:xfrm>
          <a:prstGeom prst="rect">
            <a:avLst/>
          </a:prstGeom>
          <a:solidFill>
            <a:srgbClr val="2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30175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B8FCE"/>
                </a:solidFill>
                <a:latin typeface="Calibri"/>
              </a:defRPr>
            </a:pPr>
            <a:r>
              <a:t>defect1</a:t>
            </a:r>
            <a:br/>
            <a:r>
              <a:t>...</a:t>
            </a:r>
            <a:br/>
            <a:r>
              <a:t>defect10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1C"/>
                </a:solidFill>
                <a:latin typeface="Calibri"/>
              </a:defRPr>
            </a:pPr>
            <a:r>
              <a:t>WHY MULTI-TASK?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5262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Shared backbone learns richer features for both tasks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Subtype loss acts as regularizer for the binary task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Single forward pass for both predictions — efficient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Combined loss = binary_loss + 0.5 × subtype_loss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1C"/>
                </a:solidFill>
                <a:latin typeface="Calibri"/>
              </a:defRPr>
            </a:pPr>
            <a:r>
              <a:t>LOSS DESIGN RATIONALE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5262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Binary: pos_weight=1.8 upweights defect recall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Subtype: inverse-frequency class weights balance rare classes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Subtype trained only on defect samples (ignore "good")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Weight 0.5 prevents subtype gradient from dominating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38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Decision: Training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868680"/>
            <a:ext cx="2286000" cy="381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66"/>
                </a:solidFill>
                <a:latin typeface="Calibri"/>
              </a:defRPr>
            </a:pPr>
            <a:r>
              <a:t>3-phase progressive unfreezing with hard negative mining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66"/>
                </a:solidFill>
                <a:latin typeface="Calibri"/>
              </a:defRPr>
            </a:pPr>
            <a:r>
              <a:t>Semiconductor Solutions Challenge 2026  |  Problem A: Small Sample Defect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66"/>
                </a:solidFill>
                <a:latin typeface="Calibri"/>
              </a:defRPr>
            </a:pPr>
            <a:r>
              <a:t>9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3383280" cy="274320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463040"/>
            <a:ext cx="3383280" cy="50800"/>
          </a:xfrm>
          <a:prstGeom prst="rect">
            <a:avLst/>
          </a:prstGeom>
          <a:solidFill>
            <a:srgbClr val="007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1C5"/>
                </a:solidFill>
                <a:latin typeface="Calibri"/>
              </a:defRPr>
            </a:pPr>
            <a:r>
              <a:t>PHASE 1: FROZEN BACKBONE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B81C"/>
                </a:solidFill>
                <a:latin typeface="Calibri"/>
              </a:defRPr>
            </a:pPr>
            <a:r>
              <a:t>Epochs 1–5  |  lr = 1e-3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2860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CCCCDD"/>
                </a:solidFill>
                <a:latin typeface="Calibri"/>
              </a:rPr>
              <a:t>Freeze all ResNet50 backbone layers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CCCCDD"/>
                </a:solidFill>
                <a:latin typeface="Calibri"/>
              </a:rPr>
              <a:t>Train only binary + subtype heads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CCCCDD"/>
                </a:solidFill>
                <a:latin typeface="Calibri"/>
              </a:rPr>
              <a:t>Higher LR safe for new random heads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CCCCDD"/>
                </a:solidFill>
                <a:latin typeface="Calibri"/>
              </a:rPr>
              <a:t>Prevents destroying pretrained features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463040"/>
            <a:ext cx="3383280" cy="274320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463040"/>
            <a:ext cx="3383280" cy="508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B8FCE"/>
                </a:solidFill>
                <a:latin typeface="Calibri"/>
              </a:defRPr>
            </a:pPr>
            <a:r>
              <a:t>PHASE 2: FULL FINE-TUNING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965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B81C"/>
                </a:solidFill>
                <a:latin typeface="Calibri"/>
              </a:defRPr>
            </a:pPr>
            <a:r>
              <a:t>Epochs 6–25  |  lr = 1e-4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2860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CCCCDD"/>
                </a:solidFill>
                <a:latin typeface="Calibri"/>
              </a:rPr>
              <a:t>Unfreeze entire backbone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CCCCDD"/>
                </a:solidFill>
                <a:latin typeface="Calibri"/>
              </a:rPr>
              <a:t>Lower LR to protect pretrained weights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CCCCDD"/>
                </a:solidFill>
                <a:latin typeface="Calibri"/>
              </a:rPr>
              <a:t>CosineAnnealingLR (eta_min=1e-6)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CCCCDD"/>
                </a:solidFill>
                <a:latin typeface="Calibri"/>
              </a:rPr>
              <a:t>All 25.5M+ params trainable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1463040"/>
            <a:ext cx="3383280" cy="274320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1463040"/>
            <a:ext cx="338328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PHASE 3: HARD NEGATIVE 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965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B81C"/>
                </a:solidFill>
                <a:latin typeface="Calibri"/>
              </a:defRPr>
            </a:pPr>
            <a:r>
              <a:t>5 extra epochs  |  lr = 5e-5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2860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CCCCDD"/>
                </a:solidFill>
                <a:latin typeface="Calibri"/>
              </a:rPr>
              <a:t>Identify hard samples (FN &amp; FP)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CCCCDD"/>
                </a:solidFill>
                <a:latin typeface="Calibri"/>
              </a:rPr>
              <a:t>3x oversample hard negatives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CCCCDD"/>
                </a:solidFill>
                <a:latin typeface="Calibri"/>
              </a:rPr>
              <a:t>CosineAnnealingLR to 1e-6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CCCCDD"/>
                </a:solidFill>
                <a:latin typeface="Calibri"/>
              </a:rPr>
              <a:t>Improves decision boundary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480560"/>
            <a:ext cx="10698480" cy="182880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1C"/>
                </a:solidFill>
                <a:latin typeface="Calibri"/>
              </a:defRPr>
            </a:pPr>
            <a:r>
              <a:t>ADDITIONAL TRAINING DETAILS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89204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CCCCDD"/>
                </a:solidFill>
                <a:latin typeface="Calibri"/>
              </a:rPr>
              <a:t>Optimizer: AdamW (weight_decay=1e-4)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CCCCDD"/>
                </a:solidFill>
                <a:latin typeface="Calibri"/>
              </a:rPr>
              <a:t>Batch size: 128 with WeightedRandomSampler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CCCCDD"/>
                </a:solidFill>
                <a:latin typeface="Calibri"/>
              </a:rPr>
              <a:t>Mixed precision (AMP) for GPU efficiency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89204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CCCCDD"/>
                </a:solidFill>
                <a:latin typeface="Calibri"/>
              </a:rPr>
              <a:t>Gradient clipping: max_norm=1.0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CCCCDD"/>
                </a:solidFill>
                <a:latin typeface="Calibri"/>
              </a:rPr>
              <a:t>Stratified 70/15/15 train/val/test split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CCCCDD"/>
                </a:solidFill>
                <a:latin typeface="Calibri"/>
              </a:rPr>
              <a:t>Best model saved by validation binary accuracy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38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Decision: Loss Functions &amp; Class Balancing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868680"/>
            <a:ext cx="2286000" cy="381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66"/>
                </a:solidFill>
                <a:latin typeface="Calibri"/>
              </a:defRPr>
            </a:pPr>
            <a:r>
              <a:t>Multi-level strategies to combat extreme class imbalance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66"/>
                </a:solidFill>
                <a:latin typeface="Calibri"/>
              </a:defRPr>
            </a:pPr>
            <a:r>
              <a:t>Semiconductor Solutions Challenge 2026  |  Problem A: Small Sample Defect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66"/>
                </a:solidFill>
                <a:latin typeface="Calibri"/>
              </a:defRPr>
            </a:pPr>
            <a:r>
              <a:t>10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5303520" cy="228600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463040"/>
            <a:ext cx="5303520" cy="5080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BINARY LOSS: BCEWithLogitsLoss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0116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pos_weight = 1.8 (upweights defect class in loss)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Compensates for 72.8% good vs 27.2% defect split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Prevents model from collapsing to majority "good" prediction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463040"/>
            <a:ext cx="5029200" cy="228600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463040"/>
            <a:ext cx="5029200" cy="508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6002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SUBTYPE LOSS: CrossEntropyLoss (weighted)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011680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Inverse-frequency class weights balance all 8 defect types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Trained only on defect samples (good excluded → label=-1)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Combined: total_loss = binary_loss + 0.5 × subtype_loss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1C"/>
                </a:solidFill>
                <a:latin typeface="Calibri"/>
              </a:defRPr>
            </a:pPr>
            <a:r>
              <a:t>SUBTYPE CLASS WEIGHTS (inverse frequency)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434840"/>
            <a:ext cx="10698480" cy="355600"/>
          </a:xfrm>
          <a:prstGeom prst="rect">
            <a:avLst/>
          </a:prstGeom>
          <a:solidFill>
            <a:srgbClr val="30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434840"/>
            <a:ext cx="13716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B81C"/>
                </a:solidFill>
                <a:latin typeface="Calibri"/>
              </a:defRPr>
            </a:pPr>
            <a:r>
              <a:t>Class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434840"/>
            <a:ext cx="11887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B81C"/>
                </a:solidFill>
                <a:latin typeface="Calibri"/>
              </a:defRPr>
            </a:pPr>
            <a:r>
              <a:t>defect1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7872" y="4434840"/>
            <a:ext cx="11887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B81C"/>
                </a:solidFill>
                <a:latin typeface="Calibri"/>
              </a:defRPr>
            </a:pPr>
            <a:r>
              <a:t>defect10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9744" y="4434840"/>
            <a:ext cx="11887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B81C"/>
                </a:solidFill>
                <a:latin typeface="Calibri"/>
              </a:defRPr>
            </a:pPr>
            <a:r>
              <a:t>defect2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71616" y="4434840"/>
            <a:ext cx="11887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B81C"/>
                </a:solidFill>
                <a:latin typeface="Calibri"/>
              </a:defRPr>
            </a:pPr>
            <a:r>
              <a:t>defect3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3488" y="4434840"/>
            <a:ext cx="11887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B81C"/>
                </a:solidFill>
                <a:latin typeface="Calibri"/>
              </a:defRPr>
            </a:pPr>
            <a:r>
              <a:t>defect4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4434840"/>
            <a:ext cx="11887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B81C"/>
                </a:solidFill>
                <a:latin typeface="Calibri"/>
              </a:defRPr>
            </a:pPr>
            <a:r>
              <a:t>defect5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57232" y="4434840"/>
            <a:ext cx="11887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B81C"/>
                </a:solidFill>
                <a:latin typeface="Calibri"/>
              </a:defRPr>
            </a:pPr>
            <a:r>
              <a:t>defect8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19104" y="4434840"/>
            <a:ext cx="11887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B81C"/>
                </a:solidFill>
                <a:latin typeface="Calibri"/>
              </a:defRPr>
            </a:pPr>
            <a:r>
              <a:t>defect9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790440"/>
            <a:ext cx="10698480" cy="317500"/>
          </a:xfrm>
          <a:prstGeom prst="rect">
            <a:avLst/>
          </a:prstGeom>
          <a:solidFill>
            <a:srgbClr val="28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790440"/>
            <a:ext cx="13716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Train 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790440"/>
            <a:ext cx="118872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179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47872" y="4790440"/>
            <a:ext cx="118872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460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9744" y="4790440"/>
            <a:ext cx="118872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71616" y="4790440"/>
            <a:ext cx="118872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181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33488" y="4790440"/>
            <a:ext cx="118872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221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4790440"/>
            <a:ext cx="118872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297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57232" y="4790440"/>
            <a:ext cx="118872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565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19104" y="4790440"/>
            <a:ext cx="118872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210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107940"/>
            <a:ext cx="10698480" cy="31750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107940"/>
            <a:ext cx="13716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Weight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0" y="5107940"/>
            <a:ext cx="118872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B81C"/>
                </a:solidFill>
                <a:latin typeface="Calibri"/>
              </a:defRPr>
            </a:pPr>
            <a:r>
              <a:t>1.2376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47872" y="5107940"/>
            <a:ext cx="118872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0.4816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9744" y="5107940"/>
            <a:ext cx="118872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74C3C"/>
                </a:solidFill>
                <a:latin typeface="Calibri"/>
              </a:defRPr>
            </a:pPr>
            <a:r>
              <a:t>1.8616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71616" y="5107940"/>
            <a:ext cx="118872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B81C"/>
                </a:solidFill>
                <a:latin typeface="Calibri"/>
              </a:defRPr>
            </a:pPr>
            <a:r>
              <a:t>1.2239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33488" y="5107940"/>
            <a:ext cx="118872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B81C"/>
                </a:solidFill>
                <a:latin typeface="Calibri"/>
              </a:defRPr>
            </a:pPr>
            <a:r>
              <a:t>1.0024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5107940"/>
            <a:ext cx="118872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0.7459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57232" y="5107940"/>
            <a:ext cx="118872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0.3921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19104" y="5107940"/>
            <a:ext cx="118872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B81C"/>
                </a:solidFill>
                <a:latin typeface="Calibri"/>
              </a:defRPr>
            </a:pPr>
            <a:r>
              <a:t>1.0549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5486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1C"/>
                </a:solidFill>
                <a:latin typeface="Calibri"/>
              </a:defRPr>
            </a:pPr>
            <a:r>
              <a:t>SAMPLING STRATEGY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5760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CCCCDD"/>
                </a:solidFill>
                <a:latin typeface="Calibri"/>
              </a:rPr>
              <a:t>WeightedRandomSampler: each sample drawn with probability inversely proportional to its class frequency → balanced mini-batches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38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Decision: Inference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868680"/>
            <a:ext cx="2286000" cy="381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66"/>
                </a:solidFill>
                <a:latin typeface="Calibri"/>
              </a:defRPr>
            </a:pPr>
            <a:r>
              <a:t>Test-Time Augmentation + Threshold Tuning for robust predictions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66"/>
                </a:solidFill>
                <a:latin typeface="Calibri"/>
              </a:defRPr>
            </a:pPr>
            <a:r>
              <a:t>Semiconductor Solutions Challenge 2026  |  Problem A: Small Sample Defect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66"/>
                </a:solidFill>
                <a:latin typeface="Calibri"/>
              </a:defRPr>
            </a:pPr>
            <a:r>
              <a:t>11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5303520" cy="274320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463040"/>
            <a:ext cx="530352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Calibri"/>
              </a:defRPr>
            </a:pPr>
            <a:r>
              <a:t>TEST-TIME AUGMENTATION (TTA)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0116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3 views per image: original + horizontal flip + vertical flip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Average logits across all 3 views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Reduces prediction variance without retraining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Binary logit = (original + flip_H + flip_V) / 3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Subtype logits averaged similarly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Cost: 3x inference time (still well under 1 second/image)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463040"/>
            <a:ext cx="5029200" cy="274320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463040"/>
            <a:ext cx="5029200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6002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7E22"/>
                </a:solidFill>
                <a:latin typeface="Calibri"/>
              </a:defRPr>
            </a:pPr>
            <a:r>
              <a:t>THRESHOLD SWEEP (Binary Decision)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011680"/>
            <a:ext cx="4480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Default threshold = 0.0 (standard sigmoid midpoint)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Sweep 100 thresholds from -3.0 to +3.0 on val set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Optimize for F1-score (defect class)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Best threshold found: -0.152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Can trade precision vs recall per application need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480560"/>
            <a:ext cx="10698480" cy="182880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1C"/>
                </a:solidFill>
                <a:latin typeface="Calibri"/>
              </a:defRPr>
            </a:pPr>
            <a:r>
              <a:t>FINAL 9-CLASS OUTPUT 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9377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alibri"/>
              </a:defRPr>
            </a:pPr>
            <a:r>
              <a:t>1. Forward pass with TTA (3 views averaged)</a:t>
            </a:r>
            <a:br/>
            <a:r>
              <a:t>2. Binary decision: sigmoid(logit) &gt; threshold → defect or good</a:t>
            </a:r>
            <a:br/>
            <a:r>
              <a:t>3. If defect: argmax(subtype_logits) → specific defect class (defect1...defect10)</a:t>
            </a:r>
            <a:br/>
            <a:r>
              <a:t>4. Final output: one of {good, defect1, defect2, defect3, defect4, defect5, defect8, defect9, defect10}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38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Training Results: Learning Curves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868680"/>
            <a:ext cx="2286000" cy="381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66"/>
                </a:solidFill>
                <a:latin typeface="Calibri"/>
              </a:defRPr>
            </a:pPr>
            <a:r>
              <a:t>Semiconductor Solutions Challenge 2026  |  Problem A: Small Sample Defect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66"/>
                </a:solidFill>
                <a:latin typeface="Calibri"/>
              </a:defRPr>
            </a:pPr>
            <a:r>
              <a:t>12 / 15</a:t>
            </a:r>
          </a:p>
        </p:txBody>
      </p:sp>
      <p:pic>
        <p:nvPicPr>
          <p:cNvPr id="9" name="Picture 8" descr="multitask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1C"/>
                </a:solidFill>
                <a:latin typeface="Calibri"/>
              </a:defRPr>
            </a:pPr>
            <a:r>
              <a:t>KEY OBSERVATIONS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749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Loss drops sharply at epoch 5 (backbone unfreezing)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Binary val accuracy plateaus at ~87.3%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Subtype val accuracy reaches ~95.0%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50749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No significant overfitting (train/val gap is reasonable)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Cosine LR annealing provides smooth convergence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FB81C"/>
                </a:solidFill>
                <a:latin typeface="Calibri"/>
              </a:rPr>
              <a:t>▸ </a:t>
            </a:r>
            <a:r>
              <a:rPr sz="1400">
                <a:solidFill>
                  <a:srgbClr val="CCCCDD"/>
                </a:solidFill>
                <a:latin typeface="Calibri"/>
              </a:rPr>
              <a:t>Model converges well within 25 epochs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38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Stage Results: Binary Detection &amp; Subtype Classification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868680"/>
            <a:ext cx="2286000" cy="381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66"/>
                </a:solidFill>
                <a:latin typeface="Calibri"/>
              </a:defRPr>
            </a:pPr>
            <a:r>
              <a:t>Semiconductor Solutions Challenge 2026  |  Problem A: Small Sample Defect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66"/>
                </a:solidFill>
                <a:latin typeface="Calibri"/>
              </a:defRPr>
            </a:pPr>
            <a:r>
              <a:t>13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1828800" cy="105156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25880"/>
            <a:ext cx="1828800" cy="50800"/>
          </a:xfrm>
          <a:prstGeom prst="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087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555566"/>
                </a:solidFill>
                <a:latin typeface="Calibri"/>
              </a:defRPr>
            </a:pPr>
            <a:r>
              <a:t>69.1%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031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66"/>
                </a:solidFill>
                <a:latin typeface="Calibri"/>
              </a:defRPr>
            </a:pPr>
            <a:r>
              <a:t>Majority Baseline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1325880"/>
            <a:ext cx="1828800" cy="105156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0" y="1325880"/>
            <a:ext cx="1828800" cy="50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15087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ECC71"/>
                </a:solidFill>
                <a:latin typeface="Calibri"/>
              </a:defRPr>
            </a:pPr>
            <a:r>
              <a:t>86.9%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1031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66"/>
                </a:solidFill>
                <a:latin typeface="Calibri"/>
              </a:defRPr>
            </a:pPr>
            <a:r>
              <a:t>Binary Test Acc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1325880"/>
            <a:ext cx="1828800" cy="105156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1325880"/>
            <a:ext cx="1828800" cy="508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15087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B81C"/>
                </a:solidFill>
                <a:latin typeface="Calibri"/>
              </a:defRPr>
            </a:pPr>
            <a:r>
              <a:t>+17.8pp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1031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66"/>
                </a:solidFill>
                <a:latin typeface="Calibri"/>
              </a:defRPr>
            </a:pPr>
            <a:r>
              <a:t>Binary Improve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1325880"/>
            <a:ext cx="1828800" cy="105156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1325880"/>
            <a:ext cx="1828800" cy="50800"/>
          </a:xfrm>
          <a:prstGeom prst="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15087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555566"/>
                </a:solidFill>
                <a:latin typeface="Calibri"/>
              </a:defRPr>
            </a:pPr>
            <a:r>
              <a:t>12.5%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21031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66"/>
                </a:solidFill>
                <a:latin typeface="Calibri"/>
              </a:defRPr>
            </a:pPr>
            <a:r>
              <a:t>Random Chance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1325880"/>
            <a:ext cx="1828800" cy="105156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0" y="1325880"/>
            <a:ext cx="1828800" cy="50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15087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ECC71"/>
                </a:solidFill>
                <a:latin typeface="Calibri"/>
              </a:defRPr>
            </a:pPr>
            <a:r>
              <a:t>92.7%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1031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66"/>
                </a:solidFill>
                <a:latin typeface="Calibri"/>
              </a:defRPr>
            </a:pPr>
            <a:r>
              <a:t>Subtype Test Acc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064240" y="1325880"/>
            <a:ext cx="914400" cy="105156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064240" y="1325880"/>
            <a:ext cx="914400" cy="508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247120" y="150876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B81C"/>
                </a:solidFill>
                <a:latin typeface="Calibri"/>
              </a:defRPr>
            </a:pPr>
            <a:r>
              <a:t>+80pp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66"/>
                </a:solidFill>
                <a:latin typeface="Calibri"/>
              </a:defRPr>
            </a:pPr>
          </a:p>
        </p:txBody>
      </p:sp>
      <p:pic>
        <p:nvPicPr>
          <p:cNvPr id="33" name="Picture 32" descr="binary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3017520" cy="2560320"/>
          </a:xfrm>
          <a:prstGeom prst="rect">
            <a:avLst/>
          </a:prstGeom>
        </p:spPr>
      </p:pic>
      <p:pic>
        <p:nvPicPr>
          <p:cNvPr id="34" name="Picture 33" descr="threshold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651760"/>
            <a:ext cx="3291840" cy="2560320"/>
          </a:xfrm>
          <a:prstGeom prst="rect">
            <a:avLst/>
          </a:prstGeom>
        </p:spPr>
      </p:pic>
      <p:pic>
        <p:nvPicPr>
          <p:cNvPr id="35" name="Picture 34" descr="subtype_confu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651760"/>
            <a:ext cx="3017520" cy="2560320"/>
          </a:xfrm>
          <a:prstGeom prst="rect">
            <a:avLst/>
          </a:prstGeom>
        </p:spPr>
      </p:pic>
      <p:pic>
        <p:nvPicPr>
          <p:cNvPr id="36" name="Picture 35" descr="subtype_per_class_metric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2651760"/>
            <a:ext cx="2743200" cy="25603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74320" y="5212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66"/>
                </a:solidFill>
                <a:latin typeface="Calibri"/>
              </a:defRPr>
            </a:pPr>
            <a:r>
              <a:t>Binary Confusion Matrix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52120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66"/>
                </a:solidFill>
                <a:latin typeface="Calibri"/>
              </a:defRPr>
            </a:pPr>
            <a:r>
              <a:t>Threshold Sweep (F1 optimized)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212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66"/>
                </a:solidFill>
                <a:latin typeface="Calibri"/>
              </a:defRPr>
            </a:pPr>
            <a:r>
              <a:t>Subtype Confusion (8 defects)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5212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66"/>
                </a:solidFill>
                <a:latin typeface="Calibri"/>
              </a:defRPr>
            </a:pPr>
            <a:r>
              <a:t>Per-Class P / R / F1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577840"/>
            <a:ext cx="10698480" cy="8229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5669280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1C"/>
                </a:solidFill>
                <a:latin typeface="Calibri"/>
              </a:defRPr>
            </a:pPr>
            <a:r>
              <a:t>Binary stage achieves 86.9% with +17.8pp over majority vote.  Subtype stage achieves 92.7% across 8 defect types (vs 12.5% chance).  But what is the TOTAL end-to-end accuracy when both stages run together on a random sample?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38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End-to-End 9-Class Accuracy: The Full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868680"/>
            <a:ext cx="2286000" cy="381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55566"/>
                </a:solidFill>
                <a:latin typeface="Calibri"/>
              </a:defRPr>
            </a:pPr>
            <a:r>
              <a:t>Mathematical derivation of total accuracy for a random wafer image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66"/>
                </a:solidFill>
                <a:latin typeface="Calibri"/>
              </a:defRPr>
            </a:pPr>
            <a:r>
              <a:t>Semiconductor Solutions Challenge 2026  |  Problem A: Small Sample Defect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66"/>
                </a:solidFill>
                <a:latin typeface="Calibri"/>
              </a:defRPr>
            </a:pPr>
            <a:r>
              <a:t>14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5029200" cy="182880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463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1C"/>
                </a:solidFill>
                <a:latin typeface="Calibri"/>
              </a:defRPr>
            </a:pPr>
            <a:r>
              <a:t>TWO-STAGE INFERENCE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82880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Calibri"/>
              </a:defRPr>
            </a:pPr>
            <a:r>
              <a:t>Stage 1 (Binary):   image  →  good  or  defect?      A_bin = 86.89%</a:t>
            </a:r>
            <a:br/>
            <a:r>
              <a:t>Stage 2 (Subtype):  if defect  →  which of 8 types?   A_sub = 92.68%</a:t>
            </a:r>
            <a:br/>
            <a:br/>
            <a:r>
              <a:t>A random sample is classified correctly when:</a:t>
            </a:r>
            <a:br/>
            <a:r>
              <a:t>  (a) It is "good" AND Stage 1 says "good", OR</a:t>
            </a:r>
            <a:br/>
            <a:r>
              <a:t>  (b) It is "defect" AND Stage 1 says "defect" AND Stage 2 gets the subtype right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5212080" cy="1828800"/>
          </a:xfrm>
          <a:prstGeom prst="rect">
            <a:avLst/>
          </a:prstGeom>
          <a:solidFill>
            <a:srgbClr val="15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5212080" cy="50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630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CC71"/>
                </a:solidFill>
                <a:latin typeface="Calibri"/>
              </a:defRPr>
            </a:pPr>
            <a:r>
              <a:t>TOTAL END-TO-END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7373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~85.0%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14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ECC71"/>
                </a:solidFill>
                <a:latin typeface="Calibri"/>
              </a:defRPr>
            </a:pPr>
            <a:r>
              <a:t>9-class accuracy on any random wafer image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474720"/>
            <a:ext cx="10698480" cy="2926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474720"/>
            <a:ext cx="1069848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MATHEMATICAL DERIVATION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977639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onsolas"/>
              </a:defRPr>
            </a:pPr>
            <a:r>
              <a:t>Let:</a:t>
            </a:r>
            <a:br/>
            <a:r>
              <a:t>  π_g  = P(sample is good)    = 7135/9796          = 0.6912</a:t>
            </a:r>
            <a:br/>
            <a:r>
              <a:t>  π_d  = P(sample is defect)  = 2661/9796          = 0.3088</a:t>
            </a:r>
            <a:br/>
            <a:r>
              <a:t>  TNR = P(predict good | true good)           [Stage 1]</a:t>
            </a:r>
            <a:br/>
            <a:r>
              <a:t>  TPR = P(predict defect | true defect)       [Stage 1]</a:t>
            </a:r>
            <a:br/>
            <a:r>
              <a:t>  A_bin = overall binary accuracy              = 0.8689</a:t>
            </a:r>
            <a:br/>
            <a:r>
              <a:t>  A_sub = subtype accuracy (on defects)        = 0.9268</a:t>
            </a:r>
            <a:br/>
            <a:br/>
            <a:r>
              <a:t>Identity:   A_bin = π_g × TNR + π_d × TPR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977639"/>
            <a:ext cx="5029200" cy="228600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0233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B81C"/>
                </a:solidFill>
                <a:latin typeface="Calibri"/>
              </a:defRPr>
            </a:pPr>
            <a:r>
              <a:t>END-TO-END FORMULA: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3434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E2E = π_g × TNR  +  π_d × TPR × A_sub</a:t>
            </a:r>
            <a:br/>
            <a:br/>
            <a:r>
              <a:t>Substituting  π_g × TNR = A_bin - π_d × TPR :</a:t>
            </a:r>
            <a:br/>
            <a:br/>
            <a:r>
              <a:t>E2E = A_bin  −  π_d × TPR × (1 − A_sub)</a:t>
            </a:r>
            <a:br/>
            <a:r>
              <a:t>    = 0.8689 − 0.3088 × TPR × 0.0732</a:t>
            </a:r>
            <a:br/>
            <a:r>
              <a:t>    = 0.8689 − 0.0226 × TPR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5623560"/>
            <a:ext cx="4663440" cy="502920"/>
          </a:xfrm>
          <a:prstGeom prst="rect">
            <a:avLst/>
          </a:prstGeom>
          <a:solidFill>
            <a:srgbClr val="15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56692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onsolas"/>
              </a:defRPr>
            </a:pPr>
            <a:r>
              <a:t>TPR ∈ [0.80, 0.90]  ⇒  E2E ∈ [84.7%, 85.1%]  ≈  85%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6235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B81C"/>
                </a:solidFill>
                <a:latin typeface="Calibri"/>
              </a:defRPr>
            </a:pPr>
            <a:r>
              <a:t>Key insight: subtype error rate is only 7.3%, so the correction</a:t>
            </a:r>
            <a:br/>
            <a:r>
              <a:t>term (0.0226 × TPR) is tiny. Binary accuracy dominates the E2E result.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38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Summary, Impact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868680"/>
            <a:ext cx="2286000" cy="381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66"/>
                </a:solidFill>
                <a:latin typeface="Calibri"/>
              </a:defRPr>
            </a:pPr>
            <a:r>
              <a:t>Semiconductor Solutions Challenge 2026  |  Problem A: Small Sample Defect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10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5566"/>
                </a:solidFill>
                <a:latin typeface="Calibri"/>
              </a:defRPr>
            </a:pPr>
            <a:r>
              <a:t>15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4114800" cy="1828800"/>
          </a:xfrm>
          <a:prstGeom prst="rect">
            <a:avLst/>
          </a:prstGeom>
          <a:solidFill>
            <a:srgbClr val="152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4114800" cy="50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END-TO-END 9-CLASS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7373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~85%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68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ECC71"/>
                </a:solidFill>
                <a:latin typeface="Calibri"/>
              </a:defRPr>
            </a:pPr>
            <a:r>
              <a:t>Meets Intel's 85% target</a:t>
            </a:r>
            <a:br/>
            <a:r>
              <a:t>= A_bin - 0.0226 x TPR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1371600"/>
            <a:ext cx="6309360" cy="182880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0" y="1371600"/>
            <a:ext cx="6309360" cy="508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14630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B81C"/>
                </a:solidFill>
                <a:latin typeface="Calibri"/>
              </a:defRPr>
            </a:pPr>
            <a:r>
              <a:t>STAGE BREAKDOWN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783080"/>
            <a:ext cx="5943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Stage 1 (Binary): 86.9% test acc (vs 69.1% majority baseline)  +17.8pp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Stage 2 (Subtype): 92.7% test acc (vs 12.5% random chance)  +80.2pp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Handles extreme imbalance: defect3 (9 samples) &amp; defect4 (14 samples)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Single model, single forward pass, both tasks in one inference call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474720"/>
            <a:ext cx="5303520" cy="246888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474720"/>
            <a:ext cx="5303520" cy="508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566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1C"/>
                </a:solidFill>
                <a:latin typeface="Calibri"/>
              </a:defRPr>
            </a:pPr>
            <a:r>
              <a:t>KEY INNOVATIONS (6 decisions)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9319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Sobel edge channels: principled 3-ch encoding for grayscale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Multi-task architecture: joint binary + subtype learning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Dual augmentation: patch amplification + procedural speckle gen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3-phase training: freeze → fine-tune → hard negative mining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Weighted losses + sampler to fight 793:1 class imbalance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FFFFFF"/>
                </a:solidFill>
                <a:latin typeface="Calibri"/>
              </a:rPr>
              <a:t>TTA + threshold sweep for production-ready inference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474720"/>
            <a:ext cx="5029200" cy="246888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474720"/>
            <a:ext cx="502920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FUTURE WORK &amp; SCALABILITY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93192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CCCCDD"/>
                </a:solidFill>
                <a:latin typeface="Calibri"/>
              </a:rPr>
              <a:t>Ensemble with EfficientNet/ViT for further gains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CCCCDD"/>
                </a:solidFill>
                <a:latin typeface="Calibri"/>
              </a:rPr>
              <a:t>Active learning: flag uncertain samples for human review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CCCCDD"/>
                </a:solidFill>
                <a:latin typeface="Calibri"/>
              </a:rPr>
              <a:t>ONNX / Intel OpenVINO export for fab edge deployment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CCCCDD"/>
                </a:solidFill>
                <a:latin typeface="Calibri"/>
              </a:rPr>
              <a:t>Continual learning as new defect types emerge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CCCCDD"/>
                </a:solidFill>
                <a:latin typeface="Calibri"/>
              </a:rPr>
              <a:t>Grad-CAM visualization for defect localization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FFB81C"/>
                </a:solidFill>
                <a:latin typeface="Calibri"/>
              </a:rPr>
              <a:t>▸ </a:t>
            </a:r>
            <a:r>
              <a:rPr sz="1300">
                <a:solidFill>
                  <a:srgbClr val="CCCCDD"/>
                </a:solidFill>
                <a:latin typeface="Calibri"/>
              </a:rPr>
              <a:t>Scale to full-resolution via tiled inference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